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48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1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1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3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8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9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56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9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2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0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6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8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928EB-812E-4844-8199-B5156400BF8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23ADD-68D2-4DC3-8EA4-B7F75425E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Box 241">
            <a:extLst>
              <a:ext uri="{FF2B5EF4-FFF2-40B4-BE49-F238E27FC236}">
                <a16:creationId xmlns:a16="http://schemas.microsoft.com/office/drawing/2014/main" id="{A8DAF591-7963-E5AC-AA00-5F4B0BAE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91" y="763679"/>
            <a:ext cx="31889700" cy="4560467"/>
          </a:xfrm>
          <a:prstGeom prst="snip2DiagRect">
            <a:avLst/>
          </a:prstGeom>
          <a:solidFill>
            <a:srgbClr val="E64B3C"/>
          </a:solidFill>
          <a:ln w="25400">
            <a:noFill/>
            <a:miter lim="800000"/>
          </a:ln>
        </p:spPr>
        <p:txBody>
          <a:bodyPr lIns="45878" tIns="22938" rIns="45878" bIns="22938" anchor="ctr"/>
          <a:lstStyle>
            <a:defPPr>
              <a:defRPr kern="1200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3150" b="1" i="1" u="sng" dirty="0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126" name="Text Placeholder 5">
            <a:extLst>
              <a:ext uri="{FF2B5EF4-FFF2-40B4-BE49-F238E27FC236}">
                <a16:creationId xmlns:a16="http://schemas.microsoft.com/office/drawing/2014/main" id="{97B1B9BF-882D-AACF-2F90-E44B97471857}"/>
              </a:ext>
            </a:extLst>
          </p:cNvPr>
          <p:cNvSpPr txBox="1"/>
          <p:nvPr/>
        </p:nvSpPr>
        <p:spPr>
          <a:xfrm>
            <a:off x="4422857" y="964109"/>
            <a:ext cx="23948372" cy="22030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4800" b="1" dirty="0">
                <a:solidFill>
                  <a:srgbClr val="FFFFFF"/>
                </a:solidFill>
                <a:latin typeface="Calibri"/>
              </a:rPr>
              <a:t>Fire &amp; Smoke Vision </a:t>
            </a:r>
            <a:r>
              <a:rPr lang="en-US" sz="4800" b="1" dirty="0">
                <a:solidFill>
                  <a:srgbClr val="FFFFFF"/>
                </a:solidFill>
                <a:latin typeface="Calibri"/>
              </a:rPr>
              <a:t>Core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: A Multi-Module Deep Learning Approach to Fire Detection, Localization &amp; Severity Assessment</a:t>
            </a:r>
          </a:p>
        </p:txBody>
      </p:sp>
      <p:sp>
        <p:nvSpPr>
          <p:cNvPr id="127" name="Text Placeholder 5">
            <a:extLst>
              <a:ext uri="{FF2B5EF4-FFF2-40B4-BE49-F238E27FC236}">
                <a16:creationId xmlns:a16="http://schemas.microsoft.com/office/drawing/2014/main" id="{AFAE680A-40B4-2D62-1632-8E75739265DD}"/>
              </a:ext>
            </a:extLst>
          </p:cNvPr>
          <p:cNvSpPr txBox="1"/>
          <p:nvPr/>
        </p:nvSpPr>
        <p:spPr>
          <a:xfrm>
            <a:off x="5838092" y="3365257"/>
            <a:ext cx="18499017" cy="2856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sz="3200" b="1" dirty="0">
                <a:solidFill>
                  <a:srgbClr val="FFFFFF"/>
                </a:solidFill>
                <a:latin typeface="Calibri"/>
              </a:rPr>
              <a:t>Salman Naseem (2023-CS-78)        Huzaifa Arshad (2023-CS-86)</a:t>
            </a:r>
            <a:endParaRPr lang="en-US" sz="3200" b="1" dirty="0">
              <a:solidFill>
                <a:srgbClr val="FFFFFF"/>
              </a:solidFill>
              <a:latin typeface="Calibri"/>
            </a:endParaRPr>
          </a:p>
          <a:p>
            <a:pPr algn="ctr">
              <a:defRPr/>
            </a:pPr>
            <a:r>
              <a:rPr lang="en-US" sz="3200" b="1" dirty="0" err="1">
                <a:solidFill>
                  <a:srgbClr val="FFFFFF"/>
                </a:solidFill>
                <a:effectLst/>
                <a:latin typeface="Calibri"/>
                <a:cs typeface="Arial" pitchFamily="34" charset="0"/>
              </a:rPr>
              <a:t>Superviser</a:t>
            </a:r>
            <a:r>
              <a:rPr lang="en-US" sz="3200" b="1" dirty="0">
                <a:solidFill>
                  <a:srgbClr val="FFFFFF"/>
                </a:solidFill>
                <a:effectLst/>
                <a:latin typeface="Calibri"/>
                <a:cs typeface="Arial" pitchFamily="34" charset="0"/>
              </a:rPr>
              <a:t> Name </a:t>
            </a:r>
            <a:r>
              <a:rPr lang="en-US" sz="3200" dirty="0">
                <a:solidFill>
                  <a:srgbClr val="FFFFFF"/>
                </a:solidFill>
                <a:latin typeface="Calibri"/>
                <a:cs typeface="Arial" pitchFamily="34" charset="0"/>
              </a:rPr>
              <a:t>: Muhammad Waseem</a:t>
            </a:r>
          </a:p>
          <a:p>
            <a:pPr algn="ctr">
              <a:defRPr/>
            </a:pPr>
            <a:r>
              <a:rPr lang="en-US" sz="32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Department of Computer Science, University of Engineering &amp; Technology, Lahore</a:t>
            </a:r>
          </a:p>
          <a:p>
            <a:pPr algn="ctr">
              <a:defRPr/>
            </a:pPr>
            <a:endParaRPr lang="en-US" sz="3200" dirty="0">
              <a:solidFill>
                <a:schemeClr val="bg1"/>
              </a:solidFill>
              <a:effectLst/>
              <a:latin typeface="Quattrocento" panose="02020802030000000404" pitchFamily="18" charset="0"/>
              <a:cs typeface="Arial" pitchFamily="34" charset="0"/>
            </a:endParaRPr>
          </a:p>
          <a:p>
            <a:endParaRPr sz="32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ADB8C73-4A7F-C058-FB06-2CC8B9B70501}"/>
              </a:ext>
            </a:extLst>
          </p:cNvPr>
          <p:cNvSpPr/>
          <p:nvPr/>
        </p:nvSpPr>
        <p:spPr>
          <a:xfrm>
            <a:off x="939229" y="6674535"/>
            <a:ext cx="14382924" cy="4767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29" name="TextBox 19">
            <a:extLst>
              <a:ext uri="{FF2B5EF4-FFF2-40B4-BE49-F238E27FC236}">
                <a16:creationId xmlns:a16="http://schemas.microsoft.com/office/drawing/2014/main" id="{E42146A1-21DF-B826-421E-527D73A6C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052" y="6938317"/>
            <a:ext cx="13468268" cy="437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A multi-module computer-vision system that detects fire and smoke in images. It unifies five deep-learning tasks — classification (ResNet18), detection and segmentation (YOLOv8), Grad-CAM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explainability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and a severity score — trained from one dataset of 5,000 images. On unseen test data it reaches 99.0% accuracy, 0.79 detection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and 0.79 mask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.</a:t>
            </a:r>
          </a:p>
        </p:txBody>
      </p:sp>
      <p:sp>
        <p:nvSpPr>
          <p:cNvPr id="130" name="Rectangle 10">
            <a:extLst>
              <a:ext uri="{FF2B5EF4-FFF2-40B4-BE49-F238E27FC236}">
                <a16:creationId xmlns:a16="http://schemas.microsoft.com/office/drawing/2014/main" id="{84D48E70-BE65-9739-A8E0-85BBB209C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5898616"/>
            <a:ext cx="14382924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132" name="TextBox 19">
            <a:extLst>
              <a:ext uri="{FF2B5EF4-FFF2-40B4-BE49-F238E27FC236}">
                <a16:creationId xmlns:a16="http://schemas.microsoft.com/office/drawing/2014/main" id="{F2669984-C16F-F4FF-54F2-D6666E4AA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053" y="7018583"/>
            <a:ext cx="14336947" cy="23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>
              <a:lnSpc>
                <a:spcPct val="120000"/>
              </a:lnSpc>
              <a:spcAft>
                <a:spcPts val="1000"/>
              </a:spcAft>
            </a:pPr>
            <a:endParaRPr lang="en-US" sz="2000" dirty="0">
              <a:solidFill>
                <a:srgbClr val="7030A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sz="2000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endParaRPr lang="en-US" sz="1800" dirty="0">
              <a:effectLst/>
              <a:latin typeface="Quattrocento Sans" panose="020B0502050000020003" pitchFamily="34" charset="0"/>
              <a:cs typeface="Arial" pitchFamily="34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endParaRPr lang="en-US" dirty="0">
              <a:effectLst/>
              <a:latin typeface="Quattrocento Sans" panose="020B05020500000200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B1F789B-FCC7-983B-F68D-1B0E11BA7D2B}"/>
              </a:ext>
            </a:extLst>
          </p:cNvPr>
          <p:cNvSpPr/>
          <p:nvPr/>
        </p:nvSpPr>
        <p:spPr>
          <a:xfrm>
            <a:off x="939228" y="19788948"/>
            <a:ext cx="14382924" cy="234870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36" name="Rectangle 10">
            <a:extLst>
              <a:ext uri="{FF2B5EF4-FFF2-40B4-BE49-F238E27FC236}">
                <a16:creationId xmlns:a16="http://schemas.microsoft.com/office/drawing/2014/main" id="{A32419CB-6798-239E-3D48-593A37565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18828828"/>
            <a:ext cx="14382924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2E5A78E-3E2E-5642-9A41-3909DF878721}"/>
              </a:ext>
            </a:extLst>
          </p:cNvPr>
          <p:cNvSpPr/>
          <p:nvPr/>
        </p:nvSpPr>
        <p:spPr>
          <a:xfrm>
            <a:off x="16011800" y="34248967"/>
            <a:ext cx="16041163" cy="2331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80983A85-5797-623A-8BD2-9EC43B656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9200" y="34248968"/>
            <a:ext cx="14702790" cy="222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One dataset powers five fire-analysis tasks in a single explainable web tool, reaching 99% accuracy and ~0.79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mAP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. Future work: higher recall, real-time video, and edge deployment.</a:t>
            </a:r>
          </a:p>
        </p:txBody>
      </p:sp>
      <p:sp>
        <p:nvSpPr>
          <p:cNvPr id="139" name="Rectangle 10">
            <a:extLst>
              <a:ext uri="{FF2B5EF4-FFF2-40B4-BE49-F238E27FC236}">
                <a16:creationId xmlns:a16="http://schemas.microsoft.com/office/drawing/2014/main" id="{F1878CA3-A34A-6A73-A8C4-E767B3348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1800" y="33304088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 &amp; Future Directions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B79FC3E-DBA7-6E80-D0E5-A8A11CCAD11E}"/>
              </a:ext>
            </a:extLst>
          </p:cNvPr>
          <p:cNvSpPr/>
          <p:nvPr/>
        </p:nvSpPr>
        <p:spPr>
          <a:xfrm>
            <a:off x="15983984" y="19215240"/>
            <a:ext cx="16041163" cy="13765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just">
              <a:lnSpc>
                <a:spcPct val="110000"/>
              </a:lnSpc>
            </a:pPr>
            <a:r>
              <a:rPr lang="en-US" sz="2000" b="1">
                <a:solidFill>
                  <a:srgbClr val="7030A0"/>
                </a:solidFill>
                <a:effectLst/>
                <a:latin typeface="Calibri(body)"/>
                <a:cs typeface="Calibri" panose="020F0502020204030204" pitchFamily="34" charset="0"/>
              </a:rPr>
              <a:t>            </a:t>
            </a:r>
          </a:p>
          <a:p>
            <a:pPr algn="just">
              <a:lnSpc>
                <a:spcPct val="110000"/>
              </a:lnSpc>
            </a:pPr>
            <a:endParaRPr lang="en-US" sz="2000" b="1">
              <a:solidFill>
                <a:srgbClr val="7030A0"/>
              </a:solidFill>
              <a:effectLst/>
              <a:latin typeface="Calibri(body)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</a:pPr>
            <a:endParaRPr lang="en-US" sz="2000" b="1" dirty="0">
              <a:solidFill>
                <a:srgbClr val="7030A0"/>
              </a:solidFill>
              <a:effectLst/>
              <a:latin typeface="Calibri(body)"/>
              <a:cs typeface="Calibri" panose="020F0502020204030204" pitchFamily="34" charset="0"/>
            </a:endParaRPr>
          </a:p>
        </p:txBody>
      </p:sp>
      <p:sp>
        <p:nvSpPr>
          <p:cNvPr id="142" name="Rectangle 10">
            <a:extLst>
              <a:ext uri="{FF2B5EF4-FFF2-40B4-BE49-F238E27FC236}">
                <a16:creationId xmlns:a16="http://schemas.microsoft.com/office/drawing/2014/main" id="{0D297D6A-2D3A-6D17-5320-99772E27A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3984" y="18313687"/>
            <a:ext cx="16041163" cy="914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</a:t>
            </a:r>
          </a:p>
        </p:txBody>
      </p:sp>
      <p:pic>
        <p:nvPicPr>
          <p:cNvPr id="143" name="Picture 14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EC279FBB-AB1D-5D22-FC38-C3FAEFA7F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052" y="908399"/>
            <a:ext cx="3512937" cy="3524686"/>
          </a:xfrm>
          <a:prstGeom prst="rect">
            <a:avLst/>
          </a:prstGeom>
        </p:spPr>
      </p:pic>
      <p:pic>
        <p:nvPicPr>
          <p:cNvPr id="144" name="Picture 143" descr="cs final logo with color trnasparent.png">
            <a:extLst>
              <a:ext uri="{FF2B5EF4-FFF2-40B4-BE49-F238E27FC236}">
                <a16:creationId xmlns:a16="http://schemas.microsoft.com/office/drawing/2014/main" id="{DFA9045D-C736-6A70-3C76-04FDF14391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629" y="1021816"/>
            <a:ext cx="3893937" cy="3524686"/>
          </a:xfrm>
          <a:prstGeom prst="rect">
            <a:avLst/>
          </a:prstGeom>
        </p:spPr>
      </p:pic>
      <p:sp>
        <p:nvSpPr>
          <p:cNvPr id="145" name="Rectangle 144">
            <a:extLst>
              <a:ext uri="{FF2B5EF4-FFF2-40B4-BE49-F238E27FC236}">
                <a16:creationId xmlns:a16="http://schemas.microsoft.com/office/drawing/2014/main" id="{8E83DEB8-792B-B9A5-4E81-E057472D7A80}"/>
              </a:ext>
            </a:extLst>
          </p:cNvPr>
          <p:cNvSpPr/>
          <p:nvPr/>
        </p:nvSpPr>
        <p:spPr>
          <a:xfrm>
            <a:off x="939230" y="12805407"/>
            <a:ext cx="14382924" cy="5812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>
              <a:latin typeface="+mj-lt"/>
            </a:endParaRPr>
          </a:p>
        </p:txBody>
      </p:sp>
      <p:sp>
        <p:nvSpPr>
          <p:cNvPr id="146" name="TextBox 19">
            <a:extLst>
              <a:ext uri="{FF2B5EF4-FFF2-40B4-BE49-F238E27FC236}">
                <a16:creationId xmlns:a16="http://schemas.microsoft.com/office/drawing/2014/main" id="{35FB6046-2712-C614-69F7-A38B01F5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052" y="13124520"/>
            <a:ext cx="13468268" cy="491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64" tIns="34282" rIns="68564" bIns="34282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r>
              <a:rPr sz="3500" b="0" dirty="0">
                <a:solidFill>
                  <a:srgbClr val="1A1916"/>
                </a:solidFill>
                <a:latin typeface="Calibri"/>
              </a:rPr>
              <a:t>Fire and smoke threaten life and property; early visual detection is vital for surveillance and warning systems. Most solutions only classify 'fire or not' and cannot show where the fire is or how severe it is.</a:t>
            </a:r>
          </a:p>
          <a:p>
            <a:endParaRPr sz="3500" b="0" dirty="0">
              <a:solidFill>
                <a:srgbClr val="1A1916"/>
              </a:solidFill>
              <a:latin typeface="Calibri"/>
            </a:endParaRP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Objectives: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Add localization, segmentation and risk scoring.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Train all tasks from one dataset.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Explain predictions with Grad-CAM.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•  Provide an easy web interface.</a:t>
            </a:r>
          </a:p>
        </p:txBody>
      </p:sp>
      <p:sp>
        <p:nvSpPr>
          <p:cNvPr id="147" name="Rectangle 10">
            <a:extLst>
              <a:ext uri="{FF2B5EF4-FFF2-40B4-BE49-F238E27FC236}">
                <a16:creationId xmlns:a16="http://schemas.microsoft.com/office/drawing/2014/main" id="{EDD1A621-92E9-D347-F97F-D3302A7BB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229" y="11666365"/>
            <a:ext cx="1438292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rgbClr val="7030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A61B92B-AF80-C715-C381-7D1A8E95D690}"/>
              </a:ext>
            </a:extLst>
          </p:cNvPr>
          <p:cNvSpPr/>
          <p:nvPr/>
        </p:nvSpPr>
        <p:spPr>
          <a:xfrm>
            <a:off x="15917117" y="6766006"/>
            <a:ext cx="16041163" cy="11275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Quattrocento Sans" panose="020B0502050000020003" pitchFamily="34" charset="0"/>
            </a:endParaRPr>
          </a:p>
        </p:txBody>
      </p:sp>
      <p:sp>
        <p:nvSpPr>
          <p:cNvPr id="149" name="Rectangle 10">
            <a:extLst>
              <a:ext uri="{FF2B5EF4-FFF2-40B4-BE49-F238E27FC236}">
                <a16:creationId xmlns:a16="http://schemas.microsoft.com/office/drawing/2014/main" id="{A4417FBA-BE1C-C8DA-E5C8-972060769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7498" y="5679284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rgbClr val="7030A0"/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Related Work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D3DCDB9-C159-95DD-0B3C-C8934502D209}"/>
              </a:ext>
            </a:extLst>
          </p:cNvPr>
          <p:cNvSpPr/>
          <p:nvPr/>
        </p:nvSpPr>
        <p:spPr>
          <a:xfrm>
            <a:off x="15983983" y="37872239"/>
            <a:ext cx="16041163" cy="5255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7200" dirty="0">
              <a:latin typeface="+mj-lt"/>
            </a:endParaRPr>
          </a:p>
        </p:txBody>
      </p:sp>
      <p:sp>
        <p:nvSpPr>
          <p:cNvPr id="153" name="Rectangle 10">
            <a:extLst>
              <a:ext uri="{FF2B5EF4-FFF2-40B4-BE49-F238E27FC236}">
                <a16:creationId xmlns:a16="http://schemas.microsoft.com/office/drawing/2014/main" id="{CC1BDA9B-D6E1-7D58-3FAF-154C83045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4008" y="36819840"/>
            <a:ext cx="16041163" cy="914400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05740" tIns="54864" rIns="205740" bIns="51422" anchor="ctr" anchorCtr="0"/>
          <a:lstStyle>
            <a:defPPr>
              <a:defRPr kern="1200"/>
            </a:defPPr>
          </a:lstStyle>
          <a:p>
            <a:pPr defTabSz="3526941">
              <a:defRPr/>
            </a:pPr>
            <a:r>
              <a:rPr lang="en-US" sz="3600" b="1" dirty="0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References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3F285-6F2E-BA7C-B0A0-C07387BFC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77709"/>
              </p:ext>
            </p:extLst>
          </p:nvPr>
        </p:nvGraphicFramePr>
        <p:xfrm>
          <a:off x="16112295" y="6877357"/>
          <a:ext cx="15601660" cy="94991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00415">
                  <a:extLst>
                    <a:ext uri="{9D8B030D-6E8A-4147-A177-3AD203B41FA5}">
                      <a16:colId xmlns:a16="http://schemas.microsoft.com/office/drawing/2014/main" val="2965903974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2802654311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1041714464"/>
                    </a:ext>
                  </a:extLst>
                </a:gridCol>
                <a:gridCol w="3900415">
                  <a:extLst>
                    <a:ext uri="{9D8B030D-6E8A-4147-A177-3AD203B41FA5}">
                      <a16:colId xmlns:a16="http://schemas.microsoft.com/office/drawing/2014/main" val="2949940457"/>
                    </a:ext>
                  </a:extLst>
                </a:gridCol>
              </a:tblGrid>
              <a:tr h="1141228"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1">
                          <a:latin typeface="Calibri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94077"/>
                  </a:ext>
                </a:extLst>
              </a:tr>
              <a:tr h="886075"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Muhammad+ 2018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CNN fire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High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No localization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37661"/>
                  </a:ext>
                </a:extLst>
              </a:tr>
              <a:tr h="1691597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Li &amp; Zhao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Faster R-CNN fire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Bounding boxes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Heavy; no masks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8433"/>
                  </a:ext>
                </a:extLst>
              </a:tr>
              <a:tr h="1691597"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Jadon+ 2019 (</a:t>
                      </a:r>
                      <a:r>
                        <a:rPr sz="3500" b="0" dirty="0" err="1">
                          <a:latin typeface="Calibri"/>
                        </a:rPr>
                        <a:t>FireNet</a:t>
                      </a:r>
                      <a:r>
                        <a:rPr sz="3500" b="0" dirty="0">
                          <a:latin typeface="Calibri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Lightweight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Classify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632022"/>
                  </a:ext>
                </a:extLst>
              </a:tr>
              <a:tr h="1288836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Shamsoshoara 2021 (FLAME)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Aerial fire 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Pixel masks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Single task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617145"/>
                  </a:ext>
                </a:extLst>
              </a:tr>
              <a:tr h="1369388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YOLOv8 (Ultralytics)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General det./seg.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Fast, SOTA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Not fire-specific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601351"/>
                  </a:ext>
                </a:extLst>
              </a:tr>
              <a:tr h="947314"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This work,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5 unified modules +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>
                          <a:latin typeface="Calibri"/>
                        </a:rPr>
                        <a:t>Explainable, end-to-end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500" b="0" dirty="0">
                          <a:latin typeface="Calibri"/>
                        </a:rPr>
                        <a:t>Single-domain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146"/>
                  </a:ext>
                </a:extLst>
              </a:tr>
            </a:tbl>
          </a:graphicData>
        </a:graphic>
      </p:graphicFrame>
      <p:sp>
        <p:nvSpPr>
          <p:cNvPr id="16" name="Rectangle 8">
            <a:extLst>
              <a:ext uri="{FF2B5EF4-FFF2-40B4-BE49-F238E27FC236}">
                <a16:creationId xmlns:a16="http://schemas.microsoft.com/office/drawing/2014/main" id="{A1E1721F-71A0-9FED-466D-92319BECAC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397042" y="38867591"/>
            <a:ext cx="1314511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sz="3500" b="0" dirty="0">
                <a:solidFill>
                  <a:srgbClr val="1A1916"/>
                </a:solidFill>
                <a:latin typeface="Calibri"/>
              </a:rPr>
              <a:t>[1] Redmon et al. YOLO. CVPR 2016.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[2]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Jocher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et al.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Ultralytics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YOLOv8. 2023.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[3] He et al. Deep Residual Learning (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ResNet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). CVPR 2016.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[4] </a:t>
            </a:r>
            <a:r>
              <a:rPr sz="3500" b="0" dirty="0" err="1">
                <a:solidFill>
                  <a:srgbClr val="1A1916"/>
                </a:solidFill>
                <a:latin typeface="Calibri"/>
              </a:rPr>
              <a:t>Selvaraju</a:t>
            </a:r>
            <a:r>
              <a:rPr sz="3500" b="0" dirty="0">
                <a:solidFill>
                  <a:srgbClr val="1A1916"/>
                </a:solidFill>
                <a:latin typeface="Calibri"/>
              </a:rPr>
              <a:t> et al. Grad-CAM. ICCV 2017.</a:t>
            </a:r>
          </a:p>
          <a:p>
            <a:r>
              <a:rPr sz="3500" b="0" dirty="0">
                <a:solidFill>
                  <a:srgbClr val="1A1916"/>
                </a:solidFill>
                <a:latin typeface="Calibri"/>
              </a:rPr>
              <a:t>[5] Muhammad et al. Fire Detection with CNNs. IEEE Access 2018.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E5DF6D7-15AB-3FCC-103A-E30AEC5BB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0886"/>
              </p:ext>
            </p:extLst>
          </p:nvPr>
        </p:nvGraphicFramePr>
        <p:xfrm>
          <a:off x="16459200" y="26609039"/>
          <a:ext cx="15032097" cy="4846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10699">
                  <a:extLst>
                    <a:ext uri="{9D8B030D-6E8A-4147-A177-3AD203B41FA5}">
                      <a16:colId xmlns:a16="http://schemas.microsoft.com/office/drawing/2014/main" val="2965903974"/>
                    </a:ext>
                  </a:extLst>
                </a:gridCol>
                <a:gridCol w="5010699">
                  <a:extLst>
                    <a:ext uri="{9D8B030D-6E8A-4147-A177-3AD203B41FA5}">
                      <a16:colId xmlns:a16="http://schemas.microsoft.com/office/drawing/2014/main" val="2802654311"/>
                    </a:ext>
                  </a:extLst>
                </a:gridCol>
                <a:gridCol w="5010699">
                  <a:extLst>
                    <a:ext uri="{9D8B030D-6E8A-4147-A177-3AD203B41FA5}">
                      <a16:colId xmlns:a16="http://schemas.microsoft.com/office/drawing/2014/main" val="104171446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1">
                          <a:latin typeface="Calibri"/>
                        </a:rPr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9407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Classification (ResNet18)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Test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99.0%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3766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Detection (YOLOv8)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0.787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843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Segmentation (YOLOv8-seg)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Mask 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0.792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263202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Detection per-class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fire / smoke 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0.75 / 0.80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61411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>
                          <a:latin typeface="Calibri"/>
                        </a:rPr>
                        <a:t>Frame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3600" b="0" dirty="0">
                          <a:latin typeface="Calibri"/>
                        </a:rPr>
                        <a:t>NONE→CRITICAL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89394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01EB77C-BBB0-908F-3335-EDF10A48CEA1}"/>
              </a:ext>
            </a:extLst>
          </p:cNvPr>
          <p:cNvSpPr txBox="1"/>
          <p:nvPr/>
        </p:nvSpPr>
        <p:spPr>
          <a:xfrm>
            <a:off x="16459200" y="19429703"/>
            <a:ext cx="146714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500" b="0" dirty="0">
                <a:solidFill>
                  <a:srgbClr val="1A1916"/>
                </a:solidFill>
                <a:latin typeface="Calibri"/>
              </a:rPr>
              <a:t>Evaluated on a held-out test set of 500 unseen images. Test scores match or beat validation, so the models generalize without overfitting. Smoke localizes slightly better than fire.</a:t>
            </a:r>
          </a:p>
        </p:txBody>
      </p:sp>
      <p:pic>
        <p:nvPicPr>
          <p:cNvPr id="154" name="Picture 153" descr="seg_fi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21214080"/>
            <a:ext cx="7661553" cy="5071250"/>
          </a:xfrm>
          <a:prstGeom prst="rect">
            <a:avLst/>
          </a:prstGeom>
        </p:spPr>
      </p:pic>
      <p:pic>
        <p:nvPicPr>
          <p:cNvPr id="155" name="Picture 154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7109" y="20642585"/>
            <a:ext cx="7661552" cy="5642745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6459200" y="25831800"/>
            <a:ext cx="1499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574F"/>
                </a:solidFill>
                <a:latin typeface="Calibri"/>
              </a:rPr>
              <a:t>Segmentation + severity result (left) · Classifier confusion matrix (right)</a:t>
            </a:r>
          </a:p>
        </p:txBody>
      </p:sp>
      <p:pic>
        <p:nvPicPr>
          <p:cNvPr id="157" name="Picture 156" descr="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410" y="19864859"/>
            <a:ext cx="11544300" cy="232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4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465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Calibri(body)</vt:lpstr>
      <vt:lpstr>Courier New</vt:lpstr>
      <vt:lpstr>Quattrocento</vt:lpstr>
      <vt:lpstr>Quattrocento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Financial Aid &amp; Career Services</dc:creator>
  <cp:lastModifiedBy>Arshad Huzaifa</cp:lastModifiedBy>
  <cp:revision>11</cp:revision>
  <dcterms:created xsi:type="dcterms:W3CDTF">2023-09-05T11:14:28Z</dcterms:created>
  <dcterms:modified xsi:type="dcterms:W3CDTF">2026-06-08T22:42:18Z</dcterms:modified>
</cp:coreProperties>
</file>